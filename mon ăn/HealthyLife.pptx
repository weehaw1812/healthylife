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imes New Roman Bold" charset="1" panose="02020803070505020304"/>
      <p:regular r:id="rId16"/>
    </p:embeddedFont>
    <p:embeddedFont>
      <p:font typeface="Times New Roman" charset="1" panose="02020603050405020304"/>
      <p:regular r:id="rId17"/>
    </p:embeddedFont>
    <p:embeddedFont>
      <p:font typeface="Noto Sans Bold" charset="1" panose="020B0802040504020204"/>
      <p:regular r:id="rId18"/>
    </p:embeddedFont>
    <p:embeddedFont>
      <p:font typeface="Noto Sans" charset="1" panose="020B05020405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9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64685" y="823575"/>
            <a:ext cx="10625070" cy="8229600"/>
          </a:xfrm>
          <a:custGeom>
            <a:avLst/>
            <a:gdLst/>
            <a:ahLst/>
            <a:cxnLst/>
            <a:rect r="r" b="b" t="t" l="l"/>
            <a:pathLst>
              <a:path h="8229600" w="10625070">
                <a:moveTo>
                  <a:pt x="0" y="0"/>
                </a:moveTo>
                <a:lnTo>
                  <a:pt x="10625070" y="0"/>
                </a:lnTo>
                <a:lnTo>
                  <a:pt x="106250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43569" y="3606647"/>
            <a:ext cx="11282204" cy="2406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931"/>
              </a:lnSpc>
            </a:pPr>
            <a:r>
              <a:rPr lang="en-US" b="true" sz="14127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Healthy Life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1406189" y="4436325"/>
            <a:ext cx="12005558" cy="1004101"/>
          </a:xfrm>
          <a:custGeom>
            <a:avLst/>
            <a:gdLst/>
            <a:ahLst/>
            <a:cxnLst/>
            <a:rect r="r" b="b" t="t" l="l"/>
            <a:pathLst>
              <a:path h="1004101" w="12005558">
                <a:moveTo>
                  <a:pt x="0" y="0"/>
                </a:moveTo>
                <a:lnTo>
                  <a:pt x="12005558" y="0"/>
                </a:lnTo>
                <a:lnTo>
                  <a:pt x="12005558" y="1004101"/>
                </a:lnTo>
                <a:lnTo>
                  <a:pt x="0" y="10041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960" y="1443601"/>
            <a:ext cx="4903609" cy="6989549"/>
          </a:xfrm>
          <a:custGeom>
            <a:avLst/>
            <a:gdLst/>
            <a:ahLst/>
            <a:cxnLst/>
            <a:rect r="r" b="b" t="t" l="l"/>
            <a:pathLst>
              <a:path h="6989549" w="4903609">
                <a:moveTo>
                  <a:pt x="0" y="0"/>
                </a:moveTo>
                <a:lnTo>
                  <a:pt x="4903609" y="0"/>
                </a:lnTo>
                <a:lnTo>
                  <a:pt x="4903609" y="6989549"/>
                </a:lnTo>
                <a:lnTo>
                  <a:pt x="0" y="69895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44" t="0" r="-24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36118" y="7888923"/>
            <a:ext cx="11963348" cy="544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55"/>
              </a:lnSpc>
            </a:pPr>
            <a:r>
              <a:rPr lang="en-US" b="true" sz="428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HealthyL</a:t>
            </a:r>
            <a:r>
              <a:rPr lang="en-US" b="true" sz="428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ife – Ăn lành mạnh, Sống khỏe mỗi ngày!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64685" y="8509220"/>
            <a:ext cx="4960364" cy="141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4"/>
              </a:lnSpc>
            </a:pPr>
            <a:r>
              <a:rPr lang="en-US" sz="4084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Tên: Nguyễn Vương </a:t>
            </a:r>
          </a:p>
          <a:p>
            <a:pPr algn="l" marL="0" indent="0" lvl="0">
              <a:lnSpc>
                <a:spcPts val="5554"/>
              </a:lnSpc>
            </a:pPr>
            <a:r>
              <a:rPr lang="en-US" b="true" sz="408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Lớp: JSB16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9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9077" y="2426838"/>
            <a:ext cx="10794748" cy="6005270"/>
            <a:chOff x="0" y="0"/>
            <a:chExt cx="986187" cy="548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6187" cy="548629"/>
            </a:xfrm>
            <a:custGeom>
              <a:avLst/>
              <a:gdLst/>
              <a:ahLst/>
              <a:cxnLst/>
              <a:rect r="r" b="b" t="t" l="l"/>
              <a:pathLst>
                <a:path h="548629" w="986187">
                  <a:moveTo>
                    <a:pt x="40902" y="0"/>
                  </a:moveTo>
                  <a:lnTo>
                    <a:pt x="945284" y="0"/>
                  </a:lnTo>
                  <a:cubicBezTo>
                    <a:pt x="967874" y="0"/>
                    <a:pt x="986187" y="18313"/>
                    <a:pt x="986187" y="40902"/>
                  </a:cubicBezTo>
                  <a:lnTo>
                    <a:pt x="986187" y="507727"/>
                  </a:lnTo>
                  <a:cubicBezTo>
                    <a:pt x="986187" y="530317"/>
                    <a:pt x="967874" y="548629"/>
                    <a:pt x="945284" y="548629"/>
                  </a:cubicBezTo>
                  <a:lnTo>
                    <a:pt x="40902" y="548629"/>
                  </a:lnTo>
                  <a:cubicBezTo>
                    <a:pt x="18313" y="548629"/>
                    <a:pt x="0" y="530317"/>
                    <a:pt x="0" y="507727"/>
                  </a:cubicBezTo>
                  <a:lnTo>
                    <a:pt x="0" y="40902"/>
                  </a:lnTo>
                  <a:cubicBezTo>
                    <a:pt x="0" y="18313"/>
                    <a:pt x="18313" y="0"/>
                    <a:pt x="40902" y="0"/>
                  </a:cubicBezTo>
                  <a:close/>
                </a:path>
              </a:pathLst>
            </a:custGeom>
            <a:ln w="76200" cap="rnd">
              <a:solidFill>
                <a:srgbClr val="68B1C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86187" cy="586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18874" y="5956808"/>
            <a:ext cx="6959151" cy="5576020"/>
          </a:xfrm>
          <a:custGeom>
            <a:avLst/>
            <a:gdLst/>
            <a:ahLst/>
            <a:cxnLst/>
            <a:rect r="r" b="b" t="t" l="l"/>
            <a:pathLst>
              <a:path h="5576020" w="6959151">
                <a:moveTo>
                  <a:pt x="0" y="0"/>
                </a:moveTo>
                <a:lnTo>
                  <a:pt x="6959151" y="0"/>
                </a:lnTo>
                <a:lnTo>
                  <a:pt x="6959151" y="5576020"/>
                </a:lnTo>
                <a:lnTo>
                  <a:pt x="0" y="5576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38629" y="-2861299"/>
            <a:ext cx="5175939" cy="4848675"/>
          </a:xfrm>
          <a:custGeom>
            <a:avLst/>
            <a:gdLst/>
            <a:ahLst/>
            <a:cxnLst/>
            <a:rect r="r" b="b" t="t" l="l"/>
            <a:pathLst>
              <a:path h="4848675" w="5175939">
                <a:moveTo>
                  <a:pt x="0" y="0"/>
                </a:moveTo>
                <a:lnTo>
                  <a:pt x="5175940" y="0"/>
                </a:lnTo>
                <a:lnTo>
                  <a:pt x="5175940" y="4848675"/>
                </a:lnTo>
                <a:lnTo>
                  <a:pt x="0" y="48486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264912" y="1028700"/>
            <a:ext cx="4786335" cy="8229600"/>
            <a:chOff x="0" y="0"/>
            <a:chExt cx="369316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283" y="-453"/>
              <a:ext cx="3693897" cy="6350907"/>
            </a:xfrm>
            <a:custGeom>
              <a:avLst/>
              <a:gdLst/>
              <a:ahLst/>
              <a:cxnLst/>
              <a:rect r="r" b="b" t="t" l="l"/>
              <a:pathLst>
                <a:path h="6350907" w="3693897">
                  <a:moveTo>
                    <a:pt x="3128293" y="3175453"/>
                  </a:moveTo>
                  <a:cubicBezTo>
                    <a:pt x="3862353" y="2468063"/>
                    <a:pt x="3882673" y="1298393"/>
                    <a:pt x="3175283" y="564333"/>
                  </a:cubicBezTo>
                  <a:cubicBezTo>
                    <a:pt x="2467893" y="-169727"/>
                    <a:pt x="1298223" y="-190047"/>
                    <a:pt x="564163" y="517343"/>
                  </a:cubicBezTo>
                  <a:cubicBezTo>
                    <a:pt x="-169897" y="1224733"/>
                    <a:pt x="-190217" y="2394403"/>
                    <a:pt x="518443" y="3128463"/>
                  </a:cubicBezTo>
                  <a:cubicBezTo>
                    <a:pt x="533683" y="3144973"/>
                    <a:pt x="548923" y="3160213"/>
                    <a:pt x="565433" y="3175453"/>
                  </a:cubicBezTo>
                  <a:cubicBezTo>
                    <a:pt x="-168627" y="3882843"/>
                    <a:pt x="-188947" y="5052513"/>
                    <a:pt x="518443" y="5786573"/>
                  </a:cubicBezTo>
                  <a:cubicBezTo>
                    <a:pt x="1225833" y="6520633"/>
                    <a:pt x="2395503" y="6540953"/>
                    <a:pt x="3129563" y="5833563"/>
                  </a:cubicBezTo>
                  <a:cubicBezTo>
                    <a:pt x="3863623" y="5126173"/>
                    <a:pt x="3883943" y="3956503"/>
                    <a:pt x="3176553" y="3222443"/>
                  </a:cubicBezTo>
                  <a:cubicBezTo>
                    <a:pt x="3160043" y="3205933"/>
                    <a:pt x="3144803" y="3190693"/>
                    <a:pt x="3128293" y="3175453"/>
                  </a:cubicBezTo>
                  <a:close/>
                </a:path>
              </a:pathLst>
            </a:custGeom>
            <a:blipFill>
              <a:blip r:embed="rId4"/>
              <a:stretch>
                <a:fillRect l="-74" t="0" r="-74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713069" y="954866"/>
            <a:ext cx="13945011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90"/>
              </a:lnSpc>
            </a:pPr>
            <a:r>
              <a:rPr lang="en-US" b="true" sz="81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Giới Thiệu Về Healthy Life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8956" y="2255388"/>
            <a:ext cx="10314991" cy="721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4"/>
              </a:lnSpc>
            </a:pPr>
          </a:p>
          <a:p>
            <a:pPr algn="ctr">
              <a:lnSpc>
                <a:spcPts val="5774"/>
              </a:lnSpc>
            </a:pPr>
            <a:r>
              <a:rPr lang="en-US" b="true" sz="34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HealthyLife là </a:t>
            </a:r>
            <a:r>
              <a:rPr lang="en-US" b="true" sz="34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Website hỗ trợ ăn uống lành mạnh</a:t>
            </a:r>
          </a:p>
          <a:p>
            <a:pPr algn="ctr">
              <a:lnSpc>
                <a:spcPts val="5774"/>
              </a:lnSpc>
            </a:pPr>
            <a:r>
              <a:rPr lang="en-US" b="true" sz="34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website giúp người dùng:</a:t>
            </a:r>
          </a:p>
          <a:p>
            <a:pPr algn="ctr">
              <a:lnSpc>
                <a:spcPts val="5774"/>
              </a:lnSpc>
            </a:pPr>
          </a:p>
          <a:p>
            <a:pPr algn="ctr" marL="755649" indent="-377824" lvl="1">
              <a:lnSpc>
                <a:spcPts val="5774"/>
              </a:lnSpc>
              <a:buFont typeface="Arial"/>
              <a:buChar char="•"/>
            </a:pPr>
            <a:r>
              <a:rPr lang="en-US" b="true" sz="34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Theo dõi chế độ ăn uống</a:t>
            </a:r>
          </a:p>
          <a:p>
            <a:pPr algn="ctr" marL="755649" indent="-377824" lvl="1">
              <a:lnSpc>
                <a:spcPts val="5774"/>
              </a:lnSpc>
              <a:buFont typeface="Arial"/>
              <a:buChar char="•"/>
            </a:pPr>
            <a:r>
              <a:rPr lang="en-US" b="true" sz="34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Tìm hiểu các món ăn healthy</a:t>
            </a:r>
          </a:p>
          <a:p>
            <a:pPr algn="ctr" marL="755649" indent="-377824" lvl="1">
              <a:lnSpc>
                <a:spcPts val="5774"/>
              </a:lnSpc>
              <a:buFont typeface="Arial"/>
              <a:buChar char="•"/>
            </a:pPr>
            <a:r>
              <a:rPr lang="en-US" b="true" sz="34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Tính chỉ số BMI</a:t>
            </a:r>
          </a:p>
          <a:p>
            <a:pPr algn="ctr" marL="755649" indent="-377824" lvl="1">
              <a:lnSpc>
                <a:spcPts val="5774"/>
              </a:lnSpc>
              <a:buFont typeface="Arial"/>
              <a:buChar char="•"/>
            </a:pPr>
            <a:r>
              <a:rPr lang="en-US" b="true" sz="34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Hình thành thói quen ăn uống tốt hơn</a:t>
            </a:r>
          </a:p>
          <a:p>
            <a:pPr algn="ctr">
              <a:lnSpc>
                <a:spcPts val="5774"/>
              </a:lnSpc>
            </a:pPr>
          </a:p>
          <a:p>
            <a:pPr algn="ctr">
              <a:lnSpc>
                <a:spcPts val="5774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9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8662718" y="3789081"/>
            <a:ext cx="2029875" cy="4051329"/>
            <a:chOff x="0" y="0"/>
            <a:chExt cx="3693160" cy="737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283" y="21238"/>
              <a:ext cx="3693897" cy="7328524"/>
            </a:xfrm>
            <a:custGeom>
              <a:avLst/>
              <a:gdLst/>
              <a:ahLst/>
              <a:cxnLst/>
              <a:rect r="r" b="b" t="t" l="l"/>
              <a:pathLst>
                <a:path h="7328524" w="3693897">
                  <a:moveTo>
                    <a:pt x="3128293" y="3664262"/>
                  </a:moveTo>
                  <a:cubicBezTo>
                    <a:pt x="3862353" y="2843133"/>
                    <a:pt x="3882673" y="1485394"/>
                    <a:pt x="3175283" y="633307"/>
                  </a:cubicBezTo>
                  <a:cubicBezTo>
                    <a:pt x="2467893" y="-191418"/>
                    <a:pt x="1298223" y="-211738"/>
                    <a:pt x="564163" y="578761"/>
                  </a:cubicBezTo>
                  <a:cubicBezTo>
                    <a:pt x="-169897" y="1399891"/>
                    <a:pt x="-190217" y="2757629"/>
                    <a:pt x="518443" y="3609717"/>
                  </a:cubicBezTo>
                  <a:cubicBezTo>
                    <a:pt x="533683" y="3628881"/>
                    <a:pt x="548923" y="3646571"/>
                    <a:pt x="565433" y="3664262"/>
                  </a:cubicBezTo>
                  <a:cubicBezTo>
                    <a:pt x="-168627" y="4485392"/>
                    <a:pt x="-188947" y="5843130"/>
                    <a:pt x="518443" y="6695217"/>
                  </a:cubicBezTo>
                  <a:cubicBezTo>
                    <a:pt x="1225833" y="7519942"/>
                    <a:pt x="2395503" y="7540262"/>
                    <a:pt x="3129563" y="6749763"/>
                  </a:cubicBezTo>
                  <a:cubicBezTo>
                    <a:pt x="3863623" y="5928633"/>
                    <a:pt x="3883943" y="4570895"/>
                    <a:pt x="3176553" y="3718807"/>
                  </a:cubicBezTo>
                  <a:cubicBezTo>
                    <a:pt x="3160043" y="3699643"/>
                    <a:pt x="3144803" y="3681952"/>
                    <a:pt x="3128293" y="3664262"/>
                  </a:cubicBezTo>
                  <a:close/>
                </a:path>
              </a:pathLst>
            </a:custGeom>
            <a:blipFill>
              <a:blip r:embed="rId2"/>
              <a:stretch>
                <a:fillRect l="-8134" t="-304" r="-8131" b="-30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920856" y="2006749"/>
            <a:ext cx="1854925" cy="883619"/>
          </a:xfrm>
          <a:custGeom>
            <a:avLst/>
            <a:gdLst/>
            <a:ahLst/>
            <a:cxnLst/>
            <a:rect r="r" b="b" t="t" l="l"/>
            <a:pathLst>
              <a:path h="883619" w="1854925">
                <a:moveTo>
                  <a:pt x="0" y="0"/>
                </a:moveTo>
                <a:lnTo>
                  <a:pt x="1854925" y="0"/>
                </a:lnTo>
                <a:lnTo>
                  <a:pt x="1854925" y="883618"/>
                </a:lnTo>
                <a:lnTo>
                  <a:pt x="0" y="8836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487144" y="8573416"/>
            <a:ext cx="1854925" cy="883619"/>
          </a:xfrm>
          <a:custGeom>
            <a:avLst/>
            <a:gdLst/>
            <a:ahLst/>
            <a:cxnLst/>
            <a:rect r="r" b="b" t="t" l="l"/>
            <a:pathLst>
              <a:path h="883619" w="1854925">
                <a:moveTo>
                  <a:pt x="1854925" y="0"/>
                </a:moveTo>
                <a:lnTo>
                  <a:pt x="0" y="0"/>
                </a:lnTo>
                <a:lnTo>
                  <a:pt x="0" y="883619"/>
                </a:lnTo>
                <a:lnTo>
                  <a:pt x="1854925" y="883619"/>
                </a:lnTo>
                <a:lnTo>
                  <a:pt x="185492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98809" y="3594222"/>
            <a:ext cx="552143" cy="519359"/>
          </a:xfrm>
          <a:custGeom>
            <a:avLst/>
            <a:gdLst/>
            <a:ahLst/>
            <a:cxnLst/>
            <a:rect r="r" b="b" t="t" l="l"/>
            <a:pathLst>
              <a:path h="519359" w="552143">
                <a:moveTo>
                  <a:pt x="0" y="0"/>
                </a:moveTo>
                <a:lnTo>
                  <a:pt x="552143" y="0"/>
                </a:lnTo>
                <a:lnTo>
                  <a:pt x="552143" y="519359"/>
                </a:lnTo>
                <a:lnTo>
                  <a:pt x="0" y="5193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4269" y="2966567"/>
            <a:ext cx="8175574" cy="599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</a:p>
          <a:p>
            <a:pPr algn="ctr">
              <a:lnSpc>
                <a:spcPts val="2970"/>
              </a:lnSpc>
            </a:pPr>
          </a:p>
          <a:p>
            <a:pPr algn="ctr">
              <a:lnSpc>
                <a:spcPts val="2970"/>
              </a:lnSpc>
            </a:pPr>
            <a:r>
              <a:rPr lang="en-US" sz="33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Tính BMI</a:t>
            </a:r>
          </a:p>
          <a:p>
            <a:pPr algn="ctr">
              <a:lnSpc>
                <a:spcPts val="2970"/>
              </a:lnSpc>
            </a:pPr>
          </a:p>
          <a:p>
            <a:pPr algn="ctr">
              <a:lnSpc>
                <a:spcPts val="2970"/>
              </a:lnSpc>
            </a:pPr>
            <a:r>
              <a:rPr lang="en-US" sz="33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Nhập chiều cao, cân nặng để tính BMI.</a:t>
            </a:r>
          </a:p>
          <a:p>
            <a:pPr algn="ctr">
              <a:lnSpc>
                <a:spcPts val="2970"/>
              </a:lnSpc>
            </a:pPr>
          </a:p>
          <a:p>
            <a:pPr algn="ctr">
              <a:lnSpc>
                <a:spcPts val="2970"/>
              </a:lnSpc>
            </a:pPr>
            <a:r>
              <a:rPr lang="en-US" sz="33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🥗 Thực đơn Healthy</a:t>
            </a:r>
          </a:p>
          <a:p>
            <a:pPr algn="ctr">
              <a:lnSpc>
                <a:spcPts val="2970"/>
              </a:lnSpc>
            </a:pPr>
          </a:p>
          <a:p>
            <a:pPr algn="ctr">
              <a:lnSpc>
                <a:spcPts val="2970"/>
              </a:lnSpc>
            </a:pPr>
            <a:r>
              <a:rPr lang="en-US" sz="33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Xem món ăn, calo, nguyên liệu và cách làm.</a:t>
            </a:r>
          </a:p>
          <a:p>
            <a:pPr algn="ctr">
              <a:lnSpc>
                <a:spcPts val="2970"/>
              </a:lnSpc>
            </a:pPr>
          </a:p>
          <a:p>
            <a:pPr algn="ctr">
              <a:lnSpc>
                <a:spcPts val="2970"/>
              </a:lnSpc>
            </a:pPr>
            <a:r>
              <a:rPr lang="en-US" sz="33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❤️ Yêu thích</a:t>
            </a:r>
          </a:p>
          <a:p>
            <a:pPr algn="ctr">
              <a:lnSpc>
                <a:spcPts val="2970"/>
              </a:lnSpc>
            </a:pPr>
          </a:p>
          <a:p>
            <a:pPr algn="ctr" marL="0" indent="0" lvl="0">
              <a:lnSpc>
                <a:spcPts val="2970"/>
              </a:lnSpc>
            </a:pPr>
            <a:r>
              <a:rPr lang="en-US" b="true" sz="33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Lưu lại những món ăn yêu thích.</a:t>
            </a:r>
          </a:p>
          <a:p>
            <a:pPr algn="ctr" marL="0" indent="0" lvl="0">
              <a:lnSpc>
                <a:spcPts val="2970"/>
              </a:lnSpc>
            </a:pPr>
          </a:p>
          <a:p>
            <a:pPr algn="ctr" marL="0" indent="0" lvl="0">
              <a:lnSpc>
                <a:spcPts val="2970"/>
              </a:lnSpc>
            </a:pPr>
          </a:p>
          <a:p>
            <a:pPr algn="ctr" marL="0" indent="0" lvl="0">
              <a:lnSpc>
                <a:spcPts val="297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82151" y="592387"/>
            <a:ext cx="9835131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90"/>
              </a:lnSpc>
            </a:pPr>
            <a:r>
              <a:rPr lang="en-US" b="true" sz="81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Các tính năng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33894" y="4027856"/>
            <a:ext cx="7291685" cy="3488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📊 Thống kê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Theo dõi quá trình ăn uống.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⏰ Nhắc giờ ăn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Thiết lập thời gian cho các bữa ăn.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👤 Đăng nhập / Đăng ký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Quản lý thông tin và dữ liệu người dùng.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08263" y="1892449"/>
            <a:ext cx="10671473" cy="848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4"/>
              </a:lnSpc>
              <a:spcBef>
                <a:spcPct val="0"/>
              </a:spcBef>
            </a:pPr>
            <a:r>
              <a:rPr lang="en-US" b="true" sz="484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Những chức năng chính của HealthyLife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9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72926" y="2402989"/>
            <a:ext cx="11123617" cy="5568691"/>
          </a:xfrm>
          <a:custGeom>
            <a:avLst/>
            <a:gdLst/>
            <a:ahLst/>
            <a:cxnLst/>
            <a:rect r="r" b="b" t="t" l="l"/>
            <a:pathLst>
              <a:path h="5568691" w="11123617">
                <a:moveTo>
                  <a:pt x="0" y="0"/>
                </a:moveTo>
                <a:lnTo>
                  <a:pt x="11123616" y="0"/>
                </a:lnTo>
                <a:lnTo>
                  <a:pt x="11123616" y="5568691"/>
                </a:lnTo>
                <a:lnTo>
                  <a:pt x="0" y="55686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80" t="-1574" r="-413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2802" y="2617691"/>
            <a:ext cx="5899777" cy="618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42"/>
              </a:lnSpc>
            </a:pPr>
          </a:p>
          <a:p>
            <a:pPr algn="just" marL="737410" indent="-368705" lvl="1">
              <a:lnSpc>
                <a:spcPts val="5123"/>
              </a:lnSpc>
              <a:buFont typeface="Arial"/>
              <a:buChar char="•"/>
            </a:pPr>
            <a:r>
              <a:rPr lang="en-US" sz="341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Giới thiệu về website</a:t>
            </a:r>
          </a:p>
          <a:p>
            <a:pPr algn="just" marL="737410" indent="-368705" lvl="1">
              <a:lnSpc>
                <a:spcPts val="5123"/>
              </a:lnSpc>
              <a:buFont typeface="Arial"/>
              <a:buChar char="•"/>
            </a:pPr>
            <a:r>
              <a:rPr lang="en-US" sz="341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chức năng hỗ trợ nổi bật</a:t>
            </a:r>
          </a:p>
          <a:p>
            <a:pPr algn="just" marL="737410" indent="-368705" lvl="1">
              <a:lnSpc>
                <a:spcPts val="5123"/>
              </a:lnSpc>
              <a:buFont typeface="Arial"/>
              <a:buChar char="•"/>
            </a:pPr>
            <a:r>
              <a:rPr lang="en-US" sz="341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Xây dựng kế hoạch ăn uống</a:t>
            </a:r>
            <a:r>
              <a:rPr lang="en-US" sz="341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healthy phù hợp</a:t>
            </a:r>
          </a:p>
          <a:p>
            <a:pPr algn="just" marL="0" indent="0" lvl="0">
              <a:lnSpc>
                <a:spcPts val="5123"/>
              </a:lnSpc>
            </a:pPr>
            <a:r>
              <a:rPr lang="en-US" sz="341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👉 Giúp người dùng dễ dàng tìm đến các chức năng của website.</a:t>
            </a:r>
          </a:p>
          <a:p>
            <a:pPr algn="just" marL="0" indent="0" lvl="0">
              <a:lnSpc>
                <a:spcPts val="4542"/>
              </a:lnSpc>
            </a:pPr>
          </a:p>
          <a:p>
            <a:pPr algn="just" marL="0" indent="0" lvl="0">
              <a:lnSpc>
                <a:spcPts val="4542"/>
              </a:lnSpc>
            </a:pPr>
          </a:p>
          <a:p>
            <a:pPr algn="just" marL="0" indent="0" lvl="0">
              <a:lnSpc>
                <a:spcPts val="4542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-669885" y="430536"/>
            <a:ext cx="13545852" cy="142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Trang </a:t>
            </a:r>
            <a:r>
              <a:rPr lang="en-US" sz="8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Chủ HealthyLife 🏠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575969" y="7971680"/>
            <a:ext cx="7712031" cy="4069179"/>
          </a:xfrm>
          <a:custGeom>
            <a:avLst/>
            <a:gdLst/>
            <a:ahLst/>
            <a:cxnLst/>
            <a:rect r="r" b="b" t="t" l="l"/>
            <a:pathLst>
              <a:path h="4069179" w="7712031">
                <a:moveTo>
                  <a:pt x="0" y="0"/>
                </a:moveTo>
                <a:lnTo>
                  <a:pt x="7712031" y="0"/>
                </a:lnTo>
                <a:lnTo>
                  <a:pt x="7712031" y="4069180"/>
                </a:lnTo>
                <a:lnTo>
                  <a:pt x="0" y="4069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002" r="0" b="-11002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9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25023" y="7414304"/>
            <a:ext cx="8924880" cy="5745391"/>
          </a:xfrm>
          <a:custGeom>
            <a:avLst/>
            <a:gdLst/>
            <a:ahLst/>
            <a:cxnLst/>
            <a:rect r="r" b="b" t="t" l="l"/>
            <a:pathLst>
              <a:path h="5745391" w="8924880">
                <a:moveTo>
                  <a:pt x="0" y="0"/>
                </a:moveTo>
                <a:lnTo>
                  <a:pt x="8924880" y="0"/>
                </a:lnTo>
                <a:lnTo>
                  <a:pt x="8924880" y="5745392"/>
                </a:lnTo>
                <a:lnTo>
                  <a:pt x="0" y="5745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737822"/>
            <a:ext cx="9088162" cy="6412526"/>
          </a:xfrm>
          <a:custGeom>
            <a:avLst/>
            <a:gdLst/>
            <a:ahLst/>
            <a:cxnLst/>
            <a:rect r="r" b="b" t="t" l="l"/>
            <a:pathLst>
              <a:path h="6412526" w="9088162">
                <a:moveTo>
                  <a:pt x="0" y="0"/>
                </a:moveTo>
                <a:lnTo>
                  <a:pt x="9088162" y="0"/>
                </a:lnTo>
                <a:lnTo>
                  <a:pt x="9088162" y="6412526"/>
                </a:lnTo>
                <a:lnTo>
                  <a:pt x="0" y="64125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374" r="-1334" b="-268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953002" y="2367723"/>
            <a:ext cx="7548144" cy="758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34"/>
              </a:lnSpc>
            </a:pPr>
            <a:r>
              <a:rPr lang="en-US" sz="431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 dùng có thể xem:</a:t>
            </a:r>
          </a:p>
          <a:p>
            <a:pPr algn="just" marL="930643" indent="-465321" lvl="1">
              <a:lnSpc>
                <a:spcPts val="6034"/>
              </a:lnSpc>
              <a:buFont typeface="Arial"/>
              <a:buChar char="•"/>
            </a:pPr>
            <a:r>
              <a:rPr lang="en-US" sz="431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📷 Hình ảnh món ăn</a:t>
            </a:r>
          </a:p>
          <a:p>
            <a:pPr algn="just" marL="930643" indent="-465321" lvl="1">
              <a:lnSpc>
                <a:spcPts val="6034"/>
              </a:lnSpc>
              <a:buFont typeface="Arial"/>
              <a:buChar char="•"/>
            </a:pPr>
            <a:r>
              <a:rPr lang="en-US" sz="431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🍽️ Tên món</a:t>
            </a:r>
          </a:p>
          <a:p>
            <a:pPr algn="just" marL="930643" indent="-465321" lvl="1">
              <a:lnSpc>
                <a:spcPts val="6034"/>
              </a:lnSpc>
              <a:buFont typeface="Arial"/>
              <a:buChar char="•"/>
            </a:pPr>
            <a:r>
              <a:rPr lang="en-US" sz="431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🔥 Lượng calo</a:t>
            </a:r>
          </a:p>
          <a:p>
            <a:pPr algn="just" marL="930643" indent="-465321" lvl="1">
              <a:lnSpc>
                <a:spcPts val="6034"/>
              </a:lnSpc>
              <a:buFont typeface="Arial"/>
              <a:buChar char="•"/>
            </a:pPr>
            <a:r>
              <a:rPr lang="en-US" sz="431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🥕 Nguyên liệu</a:t>
            </a:r>
          </a:p>
          <a:p>
            <a:pPr algn="just" marL="930643" indent="-465321" lvl="1">
              <a:lnSpc>
                <a:spcPts val="6034"/>
              </a:lnSpc>
              <a:buFont typeface="Arial"/>
              <a:buChar char="•"/>
            </a:pPr>
            <a:r>
              <a:rPr lang="en-US" sz="431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👨‍🍳 Cách chế biến</a:t>
            </a:r>
          </a:p>
          <a:p>
            <a:pPr algn="just" marL="930643" indent="-465321" lvl="1">
              <a:lnSpc>
                <a:spcPts val="6034"/>
              </a:lnSpc>
              <a:buFont typeface="Arial"/>
              <a:buChar char="•"/>
            </a:pPr>
            <a:r>
              <a:rPr lang="en-US" sz="431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⏰ Thời gian ăn</a:t>
            </a:r>
          </a:p>
          <a:p>
            <a:pPr algn="just">
              <a:lnSpc>
                <a:spcPts val="6034"/>
              </a:lnSpc>
            </a:pPr>
          </a:p>
          <a:p>
            <a:pPr algn="just">
              <a:lnSpc>
                <a:spcPts val="6034"/>
              </a:lnSpc>
            </a:pPr>
          </a:p>
          <a:p>
            <a:pPr algn="just" marL="0" indent="0" lvl="0">
              <a:lnSpc>
                <a:spcPts val="603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-526019" y="413699"/>
            <a:ext cx="13354105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90"/>
              </a:lnSpc>
            </a:pPr>
            <a:r>
              <a:rPr lang="en-US" b="true" sz="81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TRANG</a:t>
            </a:r>
            <a:r>
              <a:rPr lang="en-US" b="true" sz="81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THỰC ĐƠN</a:t>
            </a:r>
            <a:r>
              <a:rPr lang="en-US" b="true" sz="8100">
                <a:solidFill>
                  <a:srgbClr val="DEF9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🥗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207498"/>
            <a:ext cx="8746809" cy="174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Cá hồi nướng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150g cá hồi+ bông cải xanh + cà rốt + dầu olive + chanh + tỏi.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9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22662" y="7914486"/>
            <a:ext cx="7712031" cy="4069179"/>
          </a:xfrm>
          <a:custGeom>
            <a:avLst/>
            <a:gdLst/>
            <a:ahLst/>
            <a:cxnLst/>
            <a:rect r="r" b="b" t="t" l="l"/>
            <a:pathLst>
              <a:path h="4069179" w="7712031">
                <a:moveTo>
                  <a:pt x="0" y="0"/>
                </a:moveTo>
                <a:lnTo>
                  <a:pt x="7712031" y="0"/>
                </a:lnTo>
                <a:lnTo>
                  <a:pt x="7712031" y="4069179"/>
                </a:lnTo>
                <a:lnTo>
                  <a:pt x="0" y="4069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002" r="0" b="-1100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80744" y="2238035"/>
            <a:ext cx="9578458" cy="5683743"/>
          </a:xfrm>
          <a:custGeom>
            <a:avLst/>
            <a:gdLst/>
            <a:ahLst/>
            <a:cxnLst/>
            <a:rect r="r" b="b" t="t" l="l"/>
            <a:pathLst>
              <a:path h="5683743" w="9578458">
                <a:moveTo>
                  <a:pt x="0" y="0"/>
                </a:moveTo>
                <a:lnTo>
                  <a:pt x="9578458" y="0"/>
                </a:lnTo>
                <a:lnTo>
                  <a:pt x="9578458" y="5683743"/>
                </a:lnTo>
                <a:lnTo>
                  <a:pt x="0" y="5683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42" t="-3427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2516" y="215453"/>
            <a:ext cx="7685038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Trang tính BMI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72428" y="4659620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28798" y="1991144"/>
            <a:ext cx="6924058" cy="625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8"/>
              </a:lnSpc>
            </a:pPr>
            <a:r>
              <a:rPr lang="en-US" sz="355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Người dùng nhập:</a:t>
            </a:r>
          </a:p>
          <a:p>
            <a:pPr algn="l" marL="767763" indent="-383882" lvl="1">
              <a:lnSpc>
                <a:spcPts val="4978"/>
              </a:lnSpc>
              <a:buFont typeface="Arial"/>
              <a:buChar char="•"/>
            </a:pPr>
            <a:r>
              <a:rPr lang="en-US" sz="355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Tuổi</a:t>
            </a:r>
          </a:p>
          <a:p>
            <a:pPr algn="l" marL="767763" indent="-383882" lvl="1">
              <a:lnSpc>
                <a:spcPts val="4978"/>
              </a:lnSpc>
              <a:buFont typeface="Arial"/>
              <a:buChar char="•"/>
            </a:pPr>
            <a:r>
              <a:rPr lang="en-US" sz="355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Chiều cao</a:t>
            </a:r>
          </a:p>
          <a:p>
            <a:pPr algn="l" marL="767763" indent="-383882" lvl="1">
              <a:lnSpc>
                <a:spcPts val="4978"/>
              </a:lnSpc>
              <a:buFont typeface="Arial"/>
              <a:buChar char="•"/>
            </a:pPr>
            <a:r>
              <a:rPr lang="en-US" sz="355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Cân nặng</a:t>
            </a:r>
          </a:p>
          <a:p>
            <a:pPr algn="l" marL="767763" indent="-383882" lvl="1">
              <a:lnSpc>
                <a:spcPts val="4978"/>
              </a:lnSpc>
              <a:buFont typeface="Arial"/>
              <a:buChar char="•"/>
            </a:pPr>
            <a:r>
              <a:rPr lang="en-US" sz="355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Mức độ hoạt động</a:t>
            </a:r>
          </a:p>
          <a:p>
            <a:pPr algn="l">
              <a:lnSpc>
                <a:spcPts val="4978"/>
              </a:lnSpc>
            </a:pPr>
            <a:r>
              <a:rPr lang="en-US" sz="355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Website sẽ:</a:t>
            </a:r>
          </a:p>
          <a:p>
            <a:pPr algn="l" marL="767763" indent="-383882" lvl="1">
              <a:lnSpc>
                <a:spcPts val="4978"/>
              </a:lnSpc>
              <a:buFont typeface="Arial"/>
              <a:buChar char="•"/>
            </a:pPr>
            <a:r>
              <a:rPr lang="en-US" sz="355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Tự động tính BMI</a:t>
            </a:r>
          </a:p>
          <a:p>
            <a:pPr algn="l" marL="767763" indent="-383882" lvl="1">
              <a:lnSpc>
                <a:spcPts val="4978"/>
              </a:lnSpc>
              <a:buFont typeface="Arial"/>
              <a:buChar char="•"/>
            </a:pPr>
            <a:r>
              <a:rPr lang="en-US" sz="355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Hiển thị kết quả</a:t>
            </a:r>
          </a:p>
          <a:p>
            <a:pPr algn="l" marL="767763" indent="-383882" lvl="1">
              <a:lnSpc>
                <a:spcPts val="4978"/>
              </a:lnSpc>
              <a:buFont typeface="Arial"/>
              <a:buChar char="•"/>
            </a:pPr>
            <a:r>
              <a:rPr lang="en-US" sz="355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Cung cấp thông tin giúp điều chỉnh chế độ ăn uống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9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9608" y="529441"/>
            <a:ext cx="17557384" cy="183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</a:pPr>
            <a:r>
              <a:rPr lang="en-US" b="true" sz="8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TRANG YÊU T</a:t>
            </a:r>
            <a:r>
              <a:rPr lang="en-US" b="true" sz="8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HÍCH &amp; THỐNG KÊ</a:t>
            </a:r>
          </a:p>
          <a:p>
            <a:pPr algn="l" marL="0" indent="0" lvl="0">
              <a:lnSpc>
                <a:spcPts val="6488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70288" y="1693005"/>
            <a:ext cx="13515187" cy="87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721"/>
              </a:lnSpc>
            </a:pPr>
            <a:r>
              <a:rPr lang="en-US" sz="42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 dõi chế độ ăn</a:t>
            </a:r>
          </a:p>
          <a:p>
            <a:pPr algn="just" marL="0" indent="0" lvl="0">
              <a:lnSpc>
                <a:spcPts val="5721"/>
              </a:lnSpc>
            </a:pPr>
            <a:r>
              <a:rPr lang="en-US" sz="42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❤️ Yêu thích</a:t>
            </a:r>
          </a:p>
          <a:p>
            <a:pPr algn="just" marL="908286" indent="-454143" lvl="1">
              <a:lnSpc>
                <a:spcPts val="5721"/>
              </a:lnSpc>
              <a:buFont typeface="Arial"/>
              <a:buChar char="•"/>
            </a:pPr>
            <a:r>
              <a:rPr lang="en-US" sz="42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Lưu các món ăn yêu thích.</a:t>
            </a:r>
          </a:p>
          <a:p>
            <a:pPr algn="just" marL="908286" indent="-454143" lvl="1">
              <a:lnSpc>
                <a:spcPts val="5721"/>
              </a:lnSpc>
              <a:buFont typeface="Arial"/>
              <a:buChar char="•"/>
            </a:pPr>
            <a:r>
              <a:rPr lang="en-US" sz="42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Dễ dàng xem lại món đã lưu.</a:t>
            </a:r>
          </a:p>
          <a:p>
            <a:pPr algn="just">
              <a:lnSpc>
                <a:spcPts val="5721"/>
              </a:lnSpc>
            </a:pPr>
          </a:p>
          <a:p>
            <a:pPr algn="just" marL="0" indent="0" lvl="0">
              <a:lnSpc>
                <a:spcPts val="5721"/>
              </a:lnSpc>
            </a:pPr>
            <a:r>
              <a:rPr lang="en-US" sz="42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📊 Thống kê</a:t>
            </a:r>
          </a:p>
          <a:p>
            <a:pPr algn="just" marL="908286" indent="-454143" lvl="1">
              <a:lnSpc>
                <a:spcPts val="5721"/>
              </a:lnSpc>
              <a:buFont typeface="Arial"/>
              <a:buChar char="•"/>
            </a:pPr>
            <a:r>
              <a:rPr lang="en-US" sz="42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 dõi quá trình ăn uống.</a:t>
            </a:r>
          </a:p>
          <a:p>
            <a:pPr algn="just" marL="908286" indent="-454143" lvl="1">
              <a:lnSpc>
                <a:spcPts val="5721"/>
              </a:lnSpc>
              <a:buFont typeface="Arial"/>
              <a:buChar char="•"/>
            </a:pPr>
            <a:r>
              <a:rPr lang="en-US" sz="42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 dõi cân nặng.</a:t>
            </a:r>
          </a:p>
          <a:p>
            <a:pPr algn="just" marL="908286" indent="-454143" lvl="1">
              <a:lnSpc>
                <a:spcPts val="5721"/>
              </a:lnSpc>
              <a:buFont typeface="Arial"/>
              <a:buChar char="•"/>
            </a:pPr>
            <a:r>
              <a:rPr lang="en-US" sz="42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Hiển thị dữ liệu bằng biểu đồ.</a:t>
            </a:r>
          </a:p>
          <a:p>
            <a:pPr algn="just" marL="0" indent="0" lvl="0">
              <a:lnSpc>
                <a:spcPts val="5721"/>
              </a:lnSpc>
            </a:pPr>
            <a:r>
              <a:rPr lang="en-US" sz="42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👉 Giúp người dùng duy trì và theo dõi thói quen tốt.</a:t>
            </a:r>
          </a:p>
          <a:p>
            <a:pPr algn="just" marL="0" indent="0" lvl="0">
              <a:lnSpc>
                <a:spcPts val="3786"/>
              </a:lnSpc>
            </a:pPr>
          </a:p>
          <a:p>
            <a:pPr algn="just" marL="0" indent="0" lvl="0">
              <a:lnSpc>
                <a:spcPts val="3786"/>
              </a:lnSpc>
            </a:pPr>
          </a:p>
          <a:p>
            <a:pPr algn="just" marL="0" indent="0" lvl="0">
              <a:lnSpc>
                <a:spcPts val="378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052381" y="2037650"/>
            <a:ext cx="9943387" cy="5184236"/>
          </a:xfrm>
          <a:custGeom>
            <a:avLst/>
            <a:gdLst/>
            <a:ahLst/>
            <a:cxnLst/>
            <a:rect r="r" b="b" t="t" l="l"/>
            <a:pathLst>
              <a:path h="5184236" w="9943387">
                <a:moveTo>
                  <a:pt x="0" y="0"/>
                </a:moveTo>
                <a:lnTo>
                  <a:pt x="9943386" y="0"/>
                </a:lnTo>
                <a:lnTo>
                  <a:pt x="9943386" y="5184236"/>
                </a:lnTo>
                <a:lnTo>
                  <a:pt x="0" y="5184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82" t="0" r="-7671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9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71941">
            <a:off x="10288971" y="2231234"/>
            <a:ext cx="5341271" cy="5059703"/>
          </a:xfrm>
          <a:custGeom>
            <a:avLst/>
            <a:gdLst/>
            <a:ahLst/>
            <a:cxnLst/>
            <a:rect r="r" b="b" t="t" l="l"/>
            <a:pathLst>
              <a:path h="5059703" w="5341271">
                <a:moveTo>
                  <a:pt x="0" y="0"/>
                </a:moveTo>
                <a:lnTo>
                  <a:pt x="5341272" y="0"/>
                </a:lnTo>
                <a:lnTo>
                  <a:pt x="5341272" y="5059703"/>
                </a:lnTo>
                <a:lnTo>
                  <a:pt x="0" y="5059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494649" y="1958005"/>
            <a:ext cx="12838724" cy="884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4"/>
              </a:lnSpc>
            </a:pPr>
            <a:r>
              <a:rPr lang="en-US" sz="291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bước xây dựng HealthyLife</a:t>
            </a:r>
          </a:p>
          <a:p>
            <a:pPr algn="ctr">
              <a:lnSpc>
                <a:spcPts val="4714"/>
              </a:lnSpc>
            </a:pPr>
            <a:r>
              <a:rPr lang="en-US" sz="291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Bước 1: Lên ý tưởng và xác định chức năng.</a:t>
            </a:r>
          </a:p>
          <a:p>
            <a:pPr algn="ctr">
              <a:lnSpc>
                <a:spcPts val="4714"/>
              </a:lnSpc>
            </a:pPr>
            <a:r>
              <a:rPr lang="en-US" sz="291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⬇️</a:t>
            </a:r>
          </a:p>
          <a:p>
            <a:pPr algn="ctr">
              <a:lnSpc>
                <a:spcPts val="4714"/>
              </a:lnSpc>
            </a:pPr>
            <a:r>
              <a:rPr lang="en-US" sz="291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Bước 2: Thiết kế giao diện website.</a:t>
            </a:r>
          </a:p>
          <a:p>
            <a:pPr algn="ctr">
              <a:lnSpc>
                <a:spcPts val="4714"/>
              </a:lnSpc>
            </a:pPr>
            <a:r>
              <a:rPr lang="en-US" sz="291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⬇️</a:t>
            </a:r>
          </a:p>
          <a:p>
            <a:pPr algn="ctr" marL="0" indent="0" lvl="0">
              <a:lnSpc>
                <a:spcPts val="4714"/>
              </a:lnSpc>
            </a:pPr>
            <a:r>
              <a:rPr lang="en-US" sz="291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Bước 3: Xây dựng cấu t</a:t>
            </a:r>
            <a:r>
              <a:rPr lang="en-US" sz="291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rúc bằng HTML.</a:t>
            </a:r>
          </a:p>
          <a:p>
            <a:pPr algn="ctr" marL="0" indent="0" lvl="0">
              <a:lnSpc>
                <a:spcPts val="4714"/>
              </a:lnSpc>
            </a:pPr>
            <a:r>
              <a:rPr lang="en-US" sz="291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⬇️</a:t>
            </a:r>
          </a:p>
          <a:p>
            <a:pPr algn="ctr" marL="0" indent="0" lvl="0">
              <a:lnSpc>
                <a:spcPts val="4714"/>
              </a:lnSpc>
            </a:pPr>
            <a:r>
              <a:rPr lang="en-US" sz="291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Bước 4: Thiết kế giao diện bằng CSS.</a:t>
            </a:r>
          </a:p>
          <a:p>
            <a:pPr algn="ctr" marL="0" indent="0" lvl="0">
              <a:lnSpc>
                <a:spcPts val="4714"/>
              </a:lnSpc>
            </a:pPr>
            <a:r>
              <a:rPr lang="en-US" sz="291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⬇️</a:t>
            </a:r>
          </a:p>
          <a:p>
            <a:pPr algn="ctr" marL="0" indent="0" lvl="0">
              <a:lnSpc>
                <a:spcPts val="4714"/>
              </a:lnSpc>
            </a:pPr>
            <a:r>
              <a:rPr lang="en-US" sz="291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Bước 5: Lập trình chức năng bằng JavaScript.</a:t>
            </a:r>
          </a:p>
          <a:p>
            <a:pPr algn="ctr" marL="0" indent="0" lvl="0">
              <a:lnSpc>
                <a:spcPts val="4714"/>
              </a:lnSpc>
            </a:pPr>
            <a:r>
              <a:rPr lang="en-US" sz="291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⬇️</a:t>
            </a:r>
          </a:p>
          <a:p>
            <a:pPr algn="ctr" marL="0" indent="0" lvl="0">
              <a:lnSpc>
                <a:spcPts val="4714"/>
              </a:lnSpc>
            </a:pPr>
            <a:r>
              <a:rPr lang="en-US" sz="291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Bước 6: Kiểm tra, sửa lỗi và hoàn thiện website.</a:t>
            </a:r>
          </a:p>
          <a:p>
            <a:pPr algn="ctr" marL="0" indent="0" lvl="0">
              <a:lnSpc>
                <a:spcPts val="4714"/>
              </a:lnSpc>
            </a:pPr>
          </a:p>
          <a:p>
            <a:pPr algn="ctr" marL="0" indent="0" lvl="0">
              <a:lnSpc>
                <a:spcPts val="4714"/>
              </a:lnSpc>
            </a:pPr>
          </a:p>
          <a:p>
            <a:pPr algn="ctr" marL="0" indent="0" lvl="0">
              <a:lnSpc>
                <a:spcPts val="4714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187202" y="4260803"/>
            <a:ext cx="3072098" cy="5713521"/>
          </a:xfrm>
          <a:custGeom>
            <a:avLst/>
            <a:gdLst/>
            <a:ahLst/>
            <a:cxnLst/>
            <a:rect r="r" b="b" t="t" l="l"/>
            <a:pathLst>
              <a:path h="5713521" w="3072098">
                <a:moveTo>
                  <a:pt x="0" y="0"/>
                </a:moveTo>
                <a:lnTo>
                  <a:pt x="3072098" y="0"/>
                </a:lnTo>
                <a:lnTo>
                  <a:pt x="3072098" y="5713520"/>
                </a:lnTo>
                <a:lnTo>
                  <a:pt x="0" y="571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033" r="0" b="-403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4115" y="761823"/>
            <a:ext cx="14067749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90"/>
              </a:lnSpc>
            </a:pPr>
            <a:r>
              <a:rPr lang="en-US" b="true" sz="81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QUÁ TRÌNH THỰC HIỆN 💻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9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75337" y="2357373"/>
            <a:ext cx="11737327" cy="6455530"/>
          </a:xfrm>
          <a:custGeom>
            <a:avLst/>
            <a:gdLst/>
            <a:ahLst/>
            <a:cxnLst/>
            <a:rect r="r" b="b" t="t" l="l"/>
            <a:pathLst>
              <a:path h="6455530" w="11737327">
                <a:moveTo>
                  <a:pt x="0" y="0"/>
                </a:moveTo>
                <a:lnTo>
                  <a:pt x="11737326" y="0"/>
                </a:lnTo>
                <a:lnTo>
                  <a:pt x="11737326" y="6455530"/>
                </a:lnTo>
                <a:lnTo>
                  <a:pt x="0" y="64555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48220" y="3387987"/>
            <a:ext cx="9791559" cy="428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695"/>
              </a:lnSpc>
            </a:pPr>
            <a:r>
              <a:rPr lang="en-US" sz="395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395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ealthyLife sẽ tiếp tục phát triển và hoàn thiện :</a:t>
            </a:r>
          </a:p>
          <a:p>
            <a:pPr algn="just" marL="0" indent="0" lvl="0">
              <a:lnSpc>
                <a:spcPts val="5695"/>
              </a:lnSpc>
            </a:pPr>
            <a:r>
              <a:rPr lang="en-US" sz="395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⏰ Nhắc giờ ăn tự động</a:t>
            </a:r>
          </a:p>
          <a:p>
            <a:pPr algn="just" marL="0" indent="0" lvl="0">
              <a:lnSpc>
                <a:spcPts val="5695"/>
              </a:lnSpc>
            </a:pPr>
            <a:r>
              <a:rPr lang="en-US" sz="395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📊 Thống kê t</a:t>
            </a:r>
            <a:r>
              <a:rPr lang="en-US" sz="395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heo dõi chế độ ăn và cân nặng</a:t>
            </a:r>
          </a:p>
          <a:p>
            <a:pPr algn="just" marL="0" indent="0" lvl="0">
              <a:lnSpc>
                <a:spcPts val="5695"/>
              </a:lnSpc>
            </a:pPr>
            <a:r>
              <a:rPr lang="en-US" sz="395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🤖 Gợi ý thực đơn cá nhân hóa</a:t>
            </a:r>
          </a:p>
          <a:p>
            <a:pPr algn="just" marL="0" indent="0" lvl="0">
              <a:lnSpc>
                <a:spcPts val="5695"/>
              </a:lnSpc>
            </a:pPr>
            <a:r>
              <a:rPr lang="en-US" sz="395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💬 Trợ lý AI tư vấn chế độ dinh dưởng</a:t>
            </a:r>
          </a:p>
          <a:p>
            <a:pPr algn="just" marL="0" indent="0" lvl="0">
              <a:lnSpc>
                <a:spcPts val="5695"/>
              </a:lnSpc>
            </a:pPr>
            <a:r>
              <a:rPr lang="en-US" sz="395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📱 Tối ưu hoá cho thiết bị di động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4788" y="221924"/>
            <a:ext cx="17618424" cy="1423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39"/>
              </a:lnSpc>
              <a:spcBef>
                <a:spcPct val="0"/>
              </a:spcBef>
            </a:pPr>
            <a:r>
              <a:rPr lang="en-US" b="true" sz="80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TÍNH NĂNG TRONG TƯƠNG LAI 🚀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9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79570" y="546152"/>
            <a:ext cx="12459167" cy="9308200"/>
          </a:xfrm>
          <a:custGeom>
            <a:avLst/>
            <a:gdLst/>
            <a:ahLst/>
            <a:cxnLst/>
            <a:rect r="r" b="b" t="t" l="l"/>
            <a:pathLst>
              <a:path h="9308200" w="12459167">
                <a:moveTo>
                  <a:pt x="0" y="0"/>
                </a:moveTo>
                <a:lnTo>
                  <a:pt x="12459167" y="0"/>
                </a:lnTo>
                <a:lnTo>
                  <a:pt x="12459167" y="9308200"/>
                </a:lnTo>
                <a:lnTo>
                  <a:pt x="0" y="9308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1" r="0" b="-36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75578" y="4003505"/>
            <a:ext cx="9067150" cy="2555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49"/>
              </a:lnSpc>
            </a:pPr>
            <a:r>
              <a:rPr lang="en-US" b="true" sz="7166">
                <a:solidFill>
                  <a:srgbClr val="17151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CẢM ƠN</a:t>
            </a:r>
            <a:r>
              <a:rPr lang="en-US" b="true" sz="7166">
                <a:solidFill>
                  <a:srgbClr val="17151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THẦY CÔ VÀ CÁC BẠN ĐÃ LẮNG NGHE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1406189" y="4436325"/>
            <a:ext cx="12005558" cy="1004101"/>
          </a:xfrm>
          <a:custGeom>
            <a:avLst/>
            <a:gdLst/>
            <a:ahLst/>
            <a:cxnLst/>
            <a:rect r="r" b="b" t="t" l="l"/>
            <a:pathLst>
              <a:path h="1004101" w="12005558">
                <a:moveTo>
                  <a:pt x="0" y="0"/>
                </a:moveTo>
                <a:lnTo>
                  <a:pt x="12005558" y="0"/>
                </a:lnTo>
                <a:lnTo>
                  <a:pt x="12005558" y="1004101"/>
                </a:lnTo>
                <a:lnTo>
                  <a:pt x="0" y="10041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400000">
            <a:off x="-5123747" y="4641449"/>
            <a:ext cx="12005558" cy="1004101"/>
          </a:xfrm>
          <a:custGeom>
            <a:avLst/>
            <a:gdLst/>
            <a:ahLst/>
            <a:cxnLst/>
            <a:rect r="r" b="b" t="t" l="l"/>
            <a:pathLst>
              <a:path h="1004101" w="12005558">
                <a:moveTo>
                  <a:pt x="12005558" y="1004102"/>
                </a:moveTo>
                <a:lnTo>
                  <a:pt x="0" y="1004102"/>
                </a:lnTo>
                <a:lnTo>
                  <a:pt x="0" y="0"/>
                </a:lnTo>
                <a:lnTo>
                  <a:pt x="12005558" y="0"/>
                </a:lnTo>
                <a:lnTo>
                  <a:pt x="12005558" y="100410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6236" y="6326796"/>
            <a:ext cx="2221879" cy="3726421"/>
          </a:xfrm>
          <a:custGeom>
            <a:avLst/>
            <a:gdLst/>
            <a:ahLst/>
            <a:cxnLst/>
            <a:rect r="r" b="b" t="t" l="l"/>
            <a:pathLst>
              <a:path h="3726421" w="2221879">
                <a:moveTo>
                  <a:pt x="0" y="0"/>
                </a:moveTo>
                <a:lnTo>
                  <a:pt x="2221879" y="0"/>
                </a:lnTo>
                <a:lnTo>
                  <a:pt x="2221879" y="3726421"/>
                </a:lnTo>
                <a:lnTo>
                  <a:pt x="0" y="37264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DAHUYGH3_TY</dc:identifier>
  <dcterms:modified xsi:type="dcterms:W3CDTF">2011-08-01T06:04:30Z</dcterms:modified>
  <cp:revision>1</cp:revision>
  <dc:title>Healthy Eating</dc:title>
</cp:coreProperties>
</file>